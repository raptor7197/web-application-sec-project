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D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C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38DFF2"/>
                </a:solidFill>
                <a:latin typeface="Calibri"/>
              </a:rPr>
              <a:t>WEB APPLICATION SECURITY  ·  COURSE PROJECT  ·  SCENARIO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400" b="1" i="0">
                <a:solidFill>
                  <a:srgbClr val="E8EFFA"/>
                </a:solidFill>
                <a:latin typeface="Calibri"/>
              </a:rPr>
              <a:t>DevSecOps Pipeline for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400" b="1" i="0">
                <a:solidFill>
                  <a:srgbClr val="E8EFFA"/>
                </a:solidFill>
                <a:latin typeface="Calibri"/>
              </a:rPr>
              <a:t>Web Application </a:t>
            </a:r>
            <a:r>
              <a:rPr sz="4400" b="1" i="0">
                <a:solidFill>
                  <a:srgbClr val="38DFF2"/>
                </a:solidFill>
                <a:latin typeface="Calibri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9DABC4"/>
                </a:solidFill>
                <a:latin typeface="Calibri"/>
              </a:rPr>
              <a:t>An intentionally vulnerable full-stack notes app (React + Express + SQLite) wired into an automated security pipeline — SAST, SCA, DAST and vulnerability regression tests gate every commit before release.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2212848" cy="96012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160520"/>
            <a:ext cx="20665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38DFF2"/>
                </a:solidFill>
                <a:latin typeface="Calibri"/>
              </a:rPr>
              <a:t>5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9DABC4"/>
                </a:solidFill>
                <a:latin typeface="Calibri"/>
              </a:rPr>
              <a:t>vulnerability
classes seeded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4160520"/>
            <a:ext cx="2212848" cy="96012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4160520"/>
            <a:ext cx="20665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4AE0A0"/>
                </a:solidFill>
                <a:latin typeface="Calibri"/>
              </a:rPr>
              <a:t>6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9DABC4"/>
                </a:solidFill>
                <a:latin typeface="Calibri"/>
              </a:rPr>
              <a:t>security tools
+ custom rulesets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14416" y="4160520"/>
            <a:ext cx="2212848" cy="96012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7568" y="4160520"/>
            <a:ext cx="20665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38DFF2"/>
                </a:solidFill>
                <a:latin typeface="Calibri"/>
              </a:rPr>
              <a:t>4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9DABC4"/>
                </a:solidFill>
                <a:latin typeface="Calibri"/>
              </a:rPr>
              <a:t>regression
suites as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160520"/>
            <a:ext cx="2212848" cy="96012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4160520"/>
            <a:ext cx="20665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4AE0A0"/>
                </a:solidFill>
                <a:latin typeface="Calibri"/>
              </a:rPr>
              <a:t>92%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9DABC4"/>
                </a:solidFill>
                <a:latin typeface="Calibri"/>
              </a:rPr>
              <a:t>combined detection
coverage (sast+dast)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20" y="2697480"/>
            <a:ext cx="1280160" cy="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5440680"/>
            <a:ext cx="10561320" cy="86868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59552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38DFF2"/>
                </a:solidFill>
                <a:latin typeface="Consolas"/>
              </a:rPr>
              <a:t>scope:  </a:t>
            </a:r>
            <a:r>
              <a:rPr sz="1100" b="0" i="0">
                <a:solidFill>
                  <a:srgbClr val="E8EFFA"/>
                </a:solidFill>
                <a:latin typeface="Calibri"/>
              </a:rPr>
              <a:t>frontend + backend architecture  ·  live exploitation evidence  ·  devsecops ci/cd gates  ·  sast vs dast vs sca analysis  ·  conclusions &amp;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FFC24D"/>
                </a:solidFill>
                <a:latin typeface="Calibri"/>
              </a:rPr>
              <a:t>ethical use: deliberately vulnerable application — local lab / academic demonstration only. do not deploy or aim at production systems.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58600" y="685800"/>
            <a:ext cx="320040" cy="2651760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31168" y="777240"/>
            <a:ext cx="37490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38DFF2"/>
                </a:solidFill>
                <a:latin typeface="Calibri"/>
              </a:rPr>
              <a:t>P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4AE0A0"/>
                </a:solidFill>
                <a:latin typeface="Calibri"/>
              </a:rPr>
              <a:t>P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FF6B6B"/>
                </a:solidFill>
                <a:latin typeface="Calibri"/>
              </a:rPr>
              <a:t>T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FFC24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41248"/>
          </a:xfrm>
          <a:prstGeom prst="rect">
            <a:avLst/>
          </a:prstGeom>
          <a:solidFill>
            <a:srgbClr val="38D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38DFF2"/>
                </a:solidFill>
                <a:latin typeface="Calibri"/>
              </a:rPr>
              <a:t>SYSTEM UNDER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881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E8EFFA"/>
                </a:solidFill>
                <a:latin typeface="Calibri"/>
              </a:rPr>
              <a:t>Architecture — Frontend &amp;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9DABC4"/>
                </a:solidFill>
                <a:latin typeface="Calibri"/>
              </a:rPr>
              <a:t>02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devsecops pipeline for web application security  ·  intentionally vulnerable demo app — lab use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520440" cy="416052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8DFF2"/>
                </a:solidFill>
                <a:latin typeface="Calibri"/>
              </a:rPr>
              <a:t>FRONTEND — react 17 + vite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21408"/>
            <a:ext cx="3154680" cy="74980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85415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1" i="0">
                <a:solidFill>
                  <a:srgbClr val="9DABC4"/>
                </a:solidFill>
                <a:latin typeface="Consolas"/>
              </a:rPr>
              <a:t>browser  ·  localhost:5173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user creates / searches / deletes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90087"/>
            <a:ext cx="3154680" cy="74980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5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1" i="0">
                <a:solidFill>
                  <a:srgbClr val="E8EFFA"/>
                </a:solidFill>
                <a:latin typeface="Consolas"/>
              </a:rPr>
              <a:t>app.jsx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state: notes list, search tab, errors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58768"/>
            <a:ext cx="3154680" cy="749808"/>
          </a:xfrm>
          <a:prstGeom prst="roundRect">
            <a:avLst>
              <a:gd name="adj" fmla="val 7000"/>
            </a:avLst>
          </a:prstGeom>
          <a:solidFill>
            <a:srgbClr val="FF6B6B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22776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1" i="0">
                <a:solidFill>
                  <a:srgbClr val="FF6B6B"/>
                </a:solidFill>
                <a:latin typeface="Calibri"/>
              </a:rPr>
              <a:t>notecard.jsx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0" i="0">
                <a:solidFill>
                  <a:srgbClr val="E8EFFA"/>
                </a:solidFill>
                <a:latin typeface="Calibri"/>
              </a:rPr>
              <a:t>renders note.content via dangerouslySetInnerHTML — XSS sink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27448"/>
            <a:ext cx="3154680" cy="74980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91456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1" i="0">
                <a:solidFill>
                  <a:srgbClr val="E8EFFA"/>
                </a:solidFill>
                <a:latin typeface="Consolas"/>
              </a:rPr>
              <a:t>api.js  (axios 0.21.1)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rest client → /api/* via vite dev proxy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8568" y="2907792"/>
            <a:ext cx="0" cy="109728"/>
          </a:xfrm>
          <a:prstGeom prst="line">
            <a:avLst/>
          </a:prstGeom>
          <a:ln w="20320">
            <a:solidFill>
              <a:srgbClr val="38DF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58568" y="3776472"/>
            <a:ext cx="0" cy="109728"/>
          </a:xfrm>
          <a:prstGeom prst="line">
            <a:avLst/>
          </a:prstGeom>
          <a:ln w="20320">
            <a:solidFill>
              <a:srgbClr val="38DF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58568" y="4645152"/>
            <a:ext cx="0" cy="109728"/>
          </a:xfrm>
          <a:prstGeom prst="line">
            <a:avLst/>
          </a:prstGeom>
          <a:ln w="20320">
            <a:solidFill>
              <a:srgbClr val="38DF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92040" y="1600200"/>
            <a:ext cx="3703320" cy="416052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7373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4AE0A0"/>
                </a:solidFill>
                <a:latin typeface="Calibri"/>
              </a:rPr>
              <a:t>BACKEND — express 4 + better-sqlite3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2121408"/>
            <a:ext cx="3337560" cy="74980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185415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1" i="0">
                <a:solidFill>
                  <a:srgbClr val="E8EFFA"/>
                </a:solidFill>
                <a:latin typeface="Consolas"/>
              </a:rPr>
              <a:t>routes/notes.js  —  6 endpoints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GET/POST /api/notes · GET/PUT/DELETE /:id · GET /search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2990087"/>
            <a:ext cx="3337560" cy="749808"/>
          </a:xfrm>
          <a:prstGeom prst="roundRect">
            <a:avLst>
              <a:gd name="adj" fmla="val 7000"/>
            </a:avLst>
          </a:prstGeom>
          <a:solidFill>
            <a:srgbClr val="FF6B6B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054095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1" i="0">
                <a:solidFill>
                  <a:srgbClr val="FF6B6B"/>
                </a:solidFill>
                <a:latin typeface="Calibri"/>
              </a:rPr>
              <a:t>search handler  —  line 13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0" i="0">
                <a:solidFill>
                  <a:srgbClr val="E8EFFA"/>
                </a:solidFill>
                <a:latin typeface="Consolas"/>
              </a:rPr>
              <a:t>query = "…LIKE '%" + q + "%'…"  — string concat → SQLi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858768"/>
            <a:ext cx="3337560" cy="749808"/>
          </a:xfrm>
          <a:prstGeom prst="roundRect">
            <a:avLst>
              <a:gd name="adj" fmla="val 7000"/>
            </a:avLst>
          </a:prstGeom>
          <a:solidFill>
            <a:srgbClr val="FF6B6B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392277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1" i="0">
                <a:solidFill>
                  <a:srgbClr val="FF6B6B"/>
                </a:solidFill>
                <a:latin typeface="Calibri"/>
              </a:rPr>
              <a:t>/:id  ·  put  ·  delete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0" i="0">
                <a:solidFill>
                  <a:srgbClr val="E8EFFA"/>
                </a:solidFill>
                <a:latin typeface="Consolas"/>
              </a:rPr>
              <a:t>no auth middleware, no ownership check → IDOR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4727448"/>
            <a:ext cx="3337560" cy="74980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79145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1" i="0">
                <a:solidFill>
                  <a:srgbClr val="E8EFFA"/>
                </a:solidFill>
                <a:latin typeface="Consolas"/>
              </a:rPr>
              <a:t>db.js  —  sqlite (wal)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notes table + 7 seed rows (incl. &lt;script&gt; payload)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39128" y="2907792"/>
            <a:ext cx="0" cy="109728"/>
          </a:xfrm>
          <a:prstGeom prst="line">
            <a:avLst/>
          </a:prstGeom>
          <a:ln w="20320">
            <a:solidFill>
              <a:srgbClr val="4AE0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39128" y="3776472"/>
            <a:ext cx="0" cy="109728"/>
          </a:xfrm>
          <a:prstGeom prst="line">
            <a:avLst/>
          </a:prstGeom>
          <a:ln w="20320">
            <a:solidFill>
              <a:srgbClr val="4AE0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39128" y="4645152"/>
            <a:ext cx="0" cy="109728"/>
          </a:xfrm>
          <a:prstGeom prst="line">
            <a:avLst/>
          </a:prstGeom>
          <a:ln w="20320">
            <a:solidFill>
              <a:srgbClr val="4AE0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41648" y="2514600"/>
            <a:ext cx="822960" cy="0"/>
          </a:xfrm>
          <a:prstGeom prst="line">
            <a:avLst/>
          </a:prstGeom>
          <a:ln w="30480">
            <a:solidFill>
              <a:srgbClr val="38DF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822191" y="22128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38DFF2"/>
                </a:solidFill>
                <a:latin typeface="Calibri"/>
              </a:rPr>
              <a:t>http /json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1600200"/>
            <a:ext cx="2788920" cy="237744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848" y="171907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FFC24D"/>
                </a:solidFill>
                <a:latin typeface="Calibri"/>
              </a:rPr>
              <a:t>MISCONFIGURATION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0848" y="2084831"/>
            <a:ext cx="2487168" cy="38404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9525">
            <a:solidFill>
              <a:srgbClr val="FFC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8864" y="2084831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F6B6B"/>
                </a:solidFill>
                <a:latin typeface="Calibri"/>
              </a:rPr>
              <a:t>✗ </a:t>
            </a:r>
            <a:r>
              <a:rPr sz="1000" b="1" i="0">
                <a:solidFill>
                  <a:srgbClr val="E8EFFA"/>
                </a:solidFill>
                <a:latin typeface="Consolas"/>
              </a:rPr>
              <a:t>helmet csp disabled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70848" y="2542032"/>
            <a:ext cx="2487168" cy="38404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9525">
            <a:solidFill>
              <a:srgbClr val="FFC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254203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F6B6B"/>
                </a:solidFill>
                <a:latin typeface="Calibri"/>
              </a:rPr>
              <a:t>✗ </a:t>
            </a:r>
            <a:r>
              <a:rPr sz="1000" b="1" i="0">
                <a:solidFill>
                  <a:srgbClr val="E8EFFA"/>
                </a:solidFill>
                <a:latin typeface="Consolas"/>
              </a:rPr>
              <a:t>x-xss-protection off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70848" y="2999232"/>
            <a:ext cx="2487168" cy="38404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9525">
            <a:solidFill>
              <a:srgbClr val="FFC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98864" y="299923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F6B6B"/>
                </a:solidFill>
                <a:latin typeface="Calibri"/>
              </a:rPr>
              <a:t>✗ </a:t>
            </a:r>
            <a:r>
              <a:rPr sz="1000" b="1" i="0">
                <a:solidFill>
                  <a:srgbClr val="E8EFFA"/>
                </a:solidFill>
                <a:latin typeface="Consolas"/>
              </a:rPr>
              <a:t>wildcard cors()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70848" y="3456432"/>
            <a:ext cx="2487168" cy="38404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9525">
            <a:solidFill>
              <a:srgbClr val="FFC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98864" y="345643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F6B6B"/>
                </a:solidFill>
                <a:latin typeface="Calibri"/>
              </a:rPr>
              <a:t>✗ </a:t>
            </a:r>
            <a:r>
              <a:rPr sz="1000" b="1" i="0">
                <a:solidFill>
                  <a:srgbClr val="E8EFFA"/>
                </a:solidFill>
                <a:latin typeface="Consolas"/>
              </a:rPr>
              <a:t>errors leak raw sql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15400" y="4160520"/>
            <a:ext cx="2788920" cy="16002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0848" y="426110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B49CFF"/>
                </a:solidFill>
                <a:latin typeface="Calibri"/>
              </a:rPr>
              <a:t>DATA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0848" y="4553712"/>
            <a:ext cx="2514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 i="0">
                <a:solidFill>
                  <a:srgbClr val="9DABC4"/>
                </a:solidFill>
                <a:latin typeface="Consolas"/>
              </a:rPr>
              <a:t>browser → vite proxy → express → sqlite →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 i="0">
                <a:solidFill>
                  <a:srgbClr val="9DABC4"/>
                </a:solidFill>
                <a:latin typeface="Consolas"/>
              </a:rPr>
              <a:t>response html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 i="0">
                <a:solidFill>
                  <a:srgbClr val="FFC24D"/>
                </a:solidFill>
                <a:latin typeface="Calibri"/>
              </a:rPr>
              <a:t>untrusted input stored &amp; echoed back = stored xss + sqli + idor in one path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897880"/>
            <a:ext cx="11201400" cy="502920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89788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F6B6B"/>
                </a:solidFill>
                <a:latin typeface="Calibri"/>
              </a:rPr>
              <a:t>trust boundary:  </a:t>
            </a:r>
            <a:r>
              <a:rPr sz="1050" b="0" i="0">
                <a:solidFill>
                  <a:srgbClr val="E8EFFA"/>
                </a:solidFill>
                <a:latin typeface="Calibri"/>
              </a:rPr>
              <a:t>everything right of the browser is unauthenticated — any user can read, modify or delete any note by id (cwe-639) and inject markup or sql at every green arrow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41248"/>
          </a:xfrm>
          <a:prstGeom prst="rect">
            <a:avLst/>
          </a:prstGeom>
          <a:solidFill>
            <a:srgbClr val="38D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38DFF2"/>
                </a:solidFill>
                <a:latin typeface="Calibri"/>
              </a:rPr>
              <a:t>ATTACK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881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E8EFFA"/>
                </a:solidFill>
                <a:latin typeface="Calibri"/>
              </a:rPr>
              <a:t>Vulnerability Landscape — 5 Classes Seeded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9DABC4"/>
                </a:solidFill>
                <a:latin typeface="Calibri"/>
              </a:rPr>
              <a:t>03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devsecops pipeline for web application security  ·  intentionally vulnerable demo app — lab use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1201400" cy="786384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524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64792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300" b="1" i="0">
                <a:solidFill>
                  <a:srgbClr val="FF6B6B"/>
                </a:solidFill>
                <a:latin typeface="Calibri"/>
              </a:rPr>
              <a:t>stored xss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900" b="1" i="0">
                <a:solidFill>
                  <a:srgbClr val="9DABC4"/>
                </a:solidFill>
                <a:latin typeface="Consolas"/>
              </a:rPr>
              <a:t>cwe-79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764792"/>
            <a:ext cx="5760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 i="0">
                <a:solidFill>
                  <a:srgbClr val="E8EFFA"/>
                </a:solidFill>
                <a:latin typeface="Calibri"/>
              </a:rPr>
              <a:t>notecard.jsx renders note.content via dangerouslySetInnerHTML — no sanitization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1764792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00" b="1" i="0">
                <a:solidFill>
                  <a:srgbClr val="FF6B6B"/>
                </a:solidFill>
                <a:latin typeface="Calibri"/>
              </a:rPr>
              <a:t>stored — executes on every viewer's browser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87752"/>
            <a:ext cx="11201400" cy="786384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524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60904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300" b="1" i="0">
                <a:solidFill>
                  <a:srgbClr val="FF6B6B"/>
                </a:solidFill>
                <a:latin typeface="Calibri"/>
              </a:rPr>
              <a:t>sql injection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900" b="1" i="0">
                <a:solidFill>
                  <a:srgbClr val="9DABC4"/>
                </a:solidFill>
                <a:latin typeface="Consolas"/>
              </a:rPr>
              <a:t>cwe-89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660904"/>
            <a:ext cx="5760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 i="0">
                <a:solidFill>
                  <a:srgbClr val="E8EFFA"/>
                </a:solidFill>
                <a:latin typeface="Calibri"/>
              </a:rPr>
              <a:t>search endpoint concatenates q into LIKE clauses (notes.js:13), leaks raw query in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660904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00" b="1" i="0">
                <a:solidFill>
                  <a:srgbClr val="FF6B6B"/>
                </a:solidFill>
                <a:latin typeface="Calibri"/>
              </a:rPr>
              <a:t>high — union / drop / exfiltration via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83864"/>
            <a:ext cx="11201400" cy="786384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524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57016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300" b="1" i="0">
                <a:solidFill>
                  <a:srgbClr val="FF6B6B"/>
                </a:solidFill>
                <a:latin typeface="Calibri"/>
              </a:rPr>
              <a:t>idor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900" b="1" i="0">
                <a:solidFill>
                  <a:srgbClr val="9DABC4"/>
                </a:solidFill>
                <a:latin typeface="Consolas"/>
              </a:rPr>
              <a:t>cwe-639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557016"/>
            <a:ext cx="5760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 i="0">
                <a:solidFill>
                  <a:srgbClr val="E8EFFA"/>
                </a:solidFill>
                <a:latin typeface="Calibri"/>
              </a:rPr>
              <a:t>zero authentication or ownership checks on get/put/delete /:id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557016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00" b="1" i="0">
                <a:solidFill>
                  <a:srgbClr val="FF6B6B"/>
                </a:solidFill>
                <a:latin typeface="Calibri"/>
              </a:rPr>
              <a:t>critical — full crud by anyone on any note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79976"/>
            <a:ext cx="11201400" cy="786384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5240">
            <a:solidFill>
              <a:srgbClr val="FFC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53128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300" b="1" i="0">
                <a:solidFill>
                  <a:srgbClr val="FFC24D"/>
                </a:solidFill>
                <a:latin typeface="Calibri"/>
              </a:rPr>
              <a:t>security misconfiguration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900" b="1" i="0">
                <a:solidFill>
                  <a:srgbClr val="9DABC4"/>
                </a:solidFill>
                <a:latin typeface="Consolas"/>
              </a:rPr>
              <a:t>cwe-693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453128"/>
            <a:ext cx="5760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 i="0">
                <a:solidFill>
                  <a:srgbClr val="E8EFFA"/>
                </a:solidFill>
                <a:latin typeface="Calibri"/>
              </a:rPr>
              <a:t>helmet csp + xss filter disabled; wildcard cors; verbose errors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4453128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00" b="1" i="0">
                <a:solidFill>
                  <a:srgbClr val="FFC24D"/>
                </a:solidFill>
                <a:latin typeface="Calibri"/>
              </a:rPr>
              <a:t>medium — strips browser defenses, aids exploitation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76088"/>
            <a:ext cx="11201400" cy="786384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5240">
            <a:solidFill>
              <a:srgbClr val="FFC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49240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300" b="1" i="0">
                <a:solidFill>
                  <a:srgbClr val="FFC24D"/>
                </a:solidFill>
                <a:latin typeface="Calibri"/>
              </a:rPr>
              <a:t>vulnerable dependencies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900" b="1" i="0">
                <a:solidFill>
                  <a:srgbClr val="9DABC4"/>
                </a:solidFill>
                <a:latin typeface="Consolas"/>
              </a:rPr>
              <a:t>a06:2021 / sca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349240"/>
            <a:ext cx="5760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50" b="0" i="0">
                <a:solidFill>
                  <a:srgbClr val="E8EFFA"/>
                </a:solidFill>
                <a:latin typeface="Calibri"/>
              </a:rPr>
              <a:t>express@4.17.1, lodash@4.17.20, axios@0.21.1, react@17.0.2, vite@2.9.0 pinned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5349240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000" b="1" i="0">
                <a:solidFill>
                  <a:srgbClr val="FFC24D"/>
                </a:solidFill>
                <a:latin typeface="Calibri"/>
              </a:rPr>
              <a:t>high — 14 known advisories across both manifests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199632"/>
            <a:ext cx="11201400" cy="219456"/>
          </a:xfrm>
          <a:prstGeom prst="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16305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9DABC4"/>
                </a:solidFill>
                <a:latin typeface="Calibri"/>
              </a:rPr>
              <a:t>every class is intentionally seeded to be detectable by sast (pattern), dast (exploit) and sca (manifest) — nothing here is an accident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41248"/>
          </a:xfrm>
          <a:prstGeom prst="rect">
            <a:avLst/>
          </a:prstGeom>
          <a:solidFill>
            <a:srgbClr val="38D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38DFF2"/>
                </a:solidFill>
                <a:latin typeface="Calibri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881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E8EFFA"/>
                </a:solidFill>
                <a:latin typeface="Calibri"/>
              </a:rPr>
              <a:t>Live Exploitation — Verified Evidence, Not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9DABC4"/>
                </a:solidFill>
                <a:latin typeface="Calibri"/>
              </a:rPr>
              <a:t>04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devsecops pipeline for web application security  ·  intentionally vulnerable demo app — lab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40680" cy="2286000"/>
          </a:xfrm>
          <a:prstGeom prst="rect">
            <a:avLst/>
          </a:prstGeom>
          <a:solidFill>
            <a:srgbClr val="0A0F1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4AE0A0"/>
                </a:solidFill>
                <a:latin typeface="Consolas"/>
              </a:rPr>
              <a:t>sqli — ' or '1'='1 via get /api/notes/search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E8EFFA"/>
                </a:solidFill>
                <a:latin typeface="Consolas"/>
              </a:rPr>
              <a:t>$ curl "localhost:3001/api/notes/search?q=' or '1'='1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FFC24D"/>
                </a:solidFill>
                <a:latin typeface="Consolas"/>
              </a:rPr>
              <a:t>{"results":[ …all 7 notes returned… ],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FFC24D"/>
                </a:solidFill>
                <a:latin typeface="Consolas"/>
              </a:rPr>
              <a:t> "query":"SELECT * FROM notes WHERE title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FFC24D"/>
                </a:solidFill>
                <a:latin typeface="Consolas"/>
              </a:rPr>
              <a:t>  LIKE '%' OR '1'='1%' OR content LIKE '%…'}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4AE0A0"/>
                </a:solidFill>
                <a:latin typeface="Consolas"/>
              </a:rPr>
              <a:t># injected sql echoed back — union select,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4AE0A0"/>
                </a:solidFill>
                <a:latin typeface="Consolas"/>
              </a:rPr>
              <a:t># drop table, order by payloads also ran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23360"/>
            <a:ext cx="5440680" cy="2286000"/>
          </a:xfrm>
          <a:prstGeom prst="rect">
            <a:avLst/>
          </a:prstGeom>
          <a:solidFill>
            <a:srgbClr val="0A0F1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F6B6B"/>
                </a:solidFill>
                <a:latin typeface="Consolas"/>
              </a:rPr>
              <a:t>stored xss — post /api/notes then 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16552"/>
            <a:ext cx="5303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onsolas"/>
              </a:rPr>
              <a:t>POST /api/notes {"content":"&lt;script&gt;alert(1)&lt;/script&gt;"}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FFC24D"/>
                </a:solidFill>
                <a:latin typeface="Consolas"/>
              </a:rPr>
              <a:t>→ 201 created, payload stored verbatim in sqlite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FFC24D"/>
                </a:solidFill>
                <a:latin typeface="Consolas"/>
              </a:rPr>
              <a:t>GET / → note rendered raw via dangerouslySetInnerHTML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FF6B6B"/>
                </a:solidFill>
                <a:latin typeface="Consolas"/>
              </a:rPr>
              <a:t>→ executes on every visitor's browser — stored xss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4AE0A0"/>
                </a:solidFill>
                <a:latin typeface="Consolas"/>
              </a:rPr>
              <a:t>6/6 payloads fired: &lt;script&gt; · onerror · svg onload ·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4AE0A0"/>
                </a:solidFill>
                <a:latin typeface="Consolas"/>
              </a:rPr>
              <a:t>iframe javascript: · "&gt;breakout · body onload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0200"/>
            <a:ext cx="5486400" cy="470916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38DFF2"/>
                </a:solidFill>
                <a:latin typeface="Calibri"/>
              </a:rPr>
              <a:t>REGRESSION SUITES — RUN LIVE AGAINST THE APP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21031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914400"/>
                <a:gridCol w="914400"/>
                <a:gridCol w="1600200"/>
              </a:tblGrid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38DFF2"/>
                          </a:solidFill>
                          <a:latin typeface="Calibri"/>
                        </a:rPr>
                        <a:t>suite</a:t>
                      </a:r>
                    </a:p>
                  </a:txBody>
                  <a:tcPr anchor="ctr" marL="82296" marR="64008" marT="27432" marB="27432">
                    <a:solidFill>
                      <a:srgbClr val="1C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38DFF2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 marL="82296" marR="64008" marT="27432" marB="27432">
                    <a:solidFill>
                      <a:srgbClr val="1C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38DFF2"/>
                          </a:solidFill>
                          <a:latin typeface="Calibri"/>
                        </a:rPr>
                        <a:t>exit</a:t>
                      </a:r>
                    </a:p>
                  </a:txBody>
                  <a:tcPr anchor="ctr" marL="82296" marR="64008" marT="27432" marB="27432">
                    <a:solidFill>
                      <a:srgbClr val="1C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38DFF2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anchor="ctr" marL="82296" marR="64008" marT="27432" marB="27432">
                    <a:solidFill>
                      <a:srgbClr val="1C2A4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xss (6 payloads)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6B6B"/>
                          </a:solidFill>
                          <a:latin typeface="Calibri"/>
                        </a:rPr>
                        <a:t>0 pass / 6 fail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6B6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9DABC4"/>
                          </a:solidFill>
                          <a:latin typeface="Calibri"/>
                        </a:rPr>
                        <a:t>all payloads stored &amp; returned raw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sqli (8 payloads)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6B6B"/>
                          </a:solidFill>
                          <a:latin typeface="Calibri"/>
                        </a:rPr>
                        <a:t>1 pass / 7 fail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6B6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9DABC4"/>
                          </a:solidFill>
                          <a:latin typeface="Calibri"/>
                        </a:rPr>
                        <a:t>injection returns full table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idor (7 checks)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C24D"/>
                          </a:solidFill>
                          <a:latin typeface="Calibri"/>
                        </a:rPr>
                        <a:t>7 pass / 0 fail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C24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9DABC4"/>
                          </a:solidFill>
                          <a:latin typeface="Calibri"/>
                        </a:rPr>
                        <a:t>unauth crud confirmed (expected)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sca (manifests)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C24D"/>
                          </a:solidFill>
                          <a:latin typeface="Calibri"/>
                        </a:rPr>
                        <a:t>3 critical/high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C24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9DABC4"/>
                          </a:solidFill>
                          <a:latin typeface="Calibri"/>
                        </a:rPr>
                        <a:t>express, lodash, axios pinned old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400800" y="5257800"/>
            <a:ext cx="5120640" cy="914400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5240">
            <a:solidFill>
              <a:srgbClr val="3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34924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 i="0">
                <a:solidFill>
                  <a:srgbClr val="38DFF2"/>
                </a:solidFill>
                <a:latin typeface="Calibri"/>
              </a:rPr>
              <a:t>why suites "fail" on purpose: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alibri"/>
              </a:rPr>
              <a:t>tests assert the vulnerable behavior is present — a fix without updating the baseline fails ci. the pipeline's regression gate is red right now, exactly as designed.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41248"/>
          </a:xfrm>
          <a:prstGeom prst="rect">
            <a:avLst/>
          </a:prstGeom>
          <a:solidFill>
            <a:srgbClr val="38D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38DFF2"/>
                </a:solidFill>
                <a:latin typeface="Calibri"/>
              </a:rPr>
              <a:t>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881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E8EFFA"/>
                </a:solidFill>
                <a:latin typeface="Calibri"/>
              </a:rPr>
              <a:t>DevSecOps Pipeline — Security Gates on Every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9DABC4"/>
                </a:solidFill>
                <a:latin typeface="Calibri"/>
              </a:rPr>
              <a:t>05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devsecops pipeline for web application security  ·  intentionally vulnerable demo app — lab use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600200" cy="118872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920240"/>
            <a:ext cx="1463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E8EFFA"/>
                </a:solidFill>
                <a:latin typeface="Calibri"/>
              </a:rPr>
              <a:t>developer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00" b="0" i="0">
                <a:solidFill>
                  <a:srgbClr val="9DABC4"/>
                </a:solidFill>
                <a:latin typeface="Calibri"/>
              </a:rPr>
              <a:t>push / pr to
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481328"/>
            <a:ext cx="3291840" cy="1170432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5240">
            <a:solidFill>
              <a:srgbClr val="3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1554480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38DFF2"/>
                </a:solidFill>
                <a:latin typeface="Calibri"/>
              </a:rPr>
              <a:t>SAST — parallel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onsolas"/>
              </a:rPr>
              <a:t>semgrep · 13 custom rules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onsolas"/>
              </a:rPr>
              <a:t>codeql · security-extended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788920"/>
            <a:ext cx="3291840" cy="1170432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5240">
            <a:solidFill>
              <a:srgbClr val="4A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862072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4AE0A0"/>
                </a:solidFill>
                <a:latin typeface="Calibri"/>
              </a:rPr>
              <a:t>SCA — parallel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onsolas"/>
              </a:rPr>
              <a:t>npm audit  (level: high)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onsolas"/>
              </a:rPr>
              <a:t>owasp dependency-check ≥7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481328"/>
            <a:ext cx="2743200" cy="1170432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5240">
            <a:solidFill>
              <a:srgbClr val="B4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554480"/>
            <a:ext cx="2560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B49CFF"/>
                </a:solidFill>
                <a:latin typeface="Calibri"/>
              </a:rPr>
              <a:t>DAST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onsolas"/>
              </a:rPr>
              <a:t>zap baseline (pr gate)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onsolas"/>
              </a:rPr>
              <a:t>zap full scan (nightly)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788920"/>
            <a:ext cx="2743200" cy="1170432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5240">
            <a:solidFill>
              <a:srgbClr val="FFC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862072"/>
            <a:ext cx="2560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FFC24D"/>
                </a:solidFill>
                <a:latin typeface="Calibri"/>
              </a:rPr>
              <a:t>REGRESSION GATE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onsolas"/>
              </a:rPr>
              <a:t>xss · sqli · idor · sca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onsolas"/>
              </a:rPr>
              <a:t>4 suites · fail = no merge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1828800"/>
            <a:ext cx="1737360" cy="118872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778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40112" y="1920240"/>
            <a:ext cx="1600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6B6B"/>
                </a:solidFill>
                <a:latin typeface="Calibri"/>
              </a:rPr>
              <a:t>BUILD GATE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E8EFFA"/>
                </a:solidFill>
                <a:latin typeface="Calibri"/>
              </a:rPr>
              <a:t>pass → merge
fail → block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121408" y="2066543"/>
            <a:ext cx="585216" cy="356617"/>
          </a:xfrm>
          <a:prstGeom prst="line">
            <a:avLst/>
          </a:prstGeom>
          <a:ln w="25400">
            <a:solidFill>
              <a:srgbClr val="E8EF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21408" y="2423160"/>
            <a:ext cx="585216" cy="950976"/>
          </a:xfrm>
          <a:prstGeom prst="line">
            <a:avLst/>
          </a:prstGeom>
          <a:ln w="25400">
            <a:solidFill>
              <a:srgbClr val="E8EF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53328" y="2066543"/>
            <a:ext cx="630936" cy="0"/>
          </a:xfrm>
          <a:prstGeom prst="line">
            <a:avLst/>
          </a:prstGeom>
          <a:ln w="25400">
            <a:solidFill>
              <a:srgbClr val="E8EF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53328" y="3374136"/>
            <a:ext cx="630936" cy="0"/>
          </a:xfrm>
          <a:prstGeom prst="line">
            <a:avLst/>
          </a:prstGeom>
          <a:ln w="25400">
            <a:solidFill>
              <a:srgbClr val="E8EF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82328" y="2066543"/>
            <a:ext cx="448056" cy="265177"/>
          </a:xfrm>
          <a:prstGeom prst="line">
            <a:avLst/>
          </a:prstGeom>
          <a:ln w="25400">
            <a:solidFill>
              <a:srgbClr val="E8EF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482328" y="2788920"/>
            <a:ext cx="448056" cy="585216"/>
          </a:xfrm>
          <a:prstGeom prst="line">
            <a:avLst/>
          </a:prstGeom>
          <a:ln w="25400">
            <a:solidFill>
              <a:srgbClr val="E8EF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743200" y="4434840"/>
            <a:ext cx="6720840" cy="685800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4526280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38DFF2"/>
                </a:solidFill>
                <a:latin typeface="Calibri"/>
              </a:rPr>
              <a:t>evidence trail:  </a:t>
            </a:r>
            <a:r>
              <a:rPr sz="1000" b="0" i="0">
                <a:solidFill>
                  <a:srgbClr val="E8EFFA"/>
                </a:solidFill>
                <a:latin typeface="Calibri"/>
              </a:rPr>
              <a:t>semgrep sarif + dependency-check sarif + zap sarif → github security tab (code scanning) · zap html report → build artifacts · reports regenerated on every push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35040" y="3977639"/>
            <a:ext cx="0" cy="429769"/>
          </a:xfrm>
          <a:prstGeom prst="line">
            <a:avLst/>
          </a:prstGeom>
          <a:ln w="20320">
            <a:solidFill>
              <a:srgbClr val="38DF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544068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" y="5513832"/>
            <a:ext cx="1618488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38DFF2"/>
                </a:solidFill>
                <a:latin typeface="Consolas"/>
              </a:rPr>
              <a:t>semgrep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fails on custom-rule ERROR/WARNING hits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39" y="544068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9735" y="5513832"/>
            <a:ext cx="1618488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38DFF2"/>
                </a:solidFill>
                <a:latin typeface="Consolas"/>
              </a:rPr>
              <a:t>codeql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fails on security-extended findings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59" y="544068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34255" y="5513832"/>
            <a:ext cx="1618488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38DFF2"/>
                </a:solidFill>
                <a:latin typeface="Consolas"/>
              </a:rPr>
              <a:t>npm audit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fails on high/critical advisories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544068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8775" y="5513832"/>
            <a:ext cx="1618488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38DFF2"/>
                </a:solidFill>
                <a:latin typeface="Consolas"/>
              </a:rPr>
              <a:t>dependency-check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fails on cvss ≥ 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544068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5513832"/>
            <a:ext cx="1618488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38DFF2"/>
                </a:solidFill>
                <a:latin typeface="Consolas"/>
              </a:rPr>
              <a:t>zap baseline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fails on high-risk runtime alerts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20" y="544068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57816" y="5513832"/>
            <a:ext cx="1618488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38DFF2"/>
                </a:solidFill>
                <a:latin typeface="Consolas"/>
              </a:rPr>
              <a:t>regression suites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fail if vuln behavior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41248"/>
          </a:xfrm>
          <a:prstGeom prst="rect">
            <a:avLst/>
          </a:prstGeom>
          <a:solidFill>
            <a:srgbClr val="38D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38DFF2"/>
                </a:solidFill>
                <a:latin typeface="Calibri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881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E8EFFA"/>
                </a:solidFill>
                <a:latin typeface="Calibri"/>
              </a:rPr>
              <a:t>Why Three Layers — SAST × DAST × SCA Complementarity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9DABC4"/>
                </a:solidFill>
                <a:latin typeface="Calibri"/>
              </a:rPr>
              <a:t>06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devsecops pipeline for web application security  ·  intentionally vulnerable demo app — lab use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6949440" cy="310896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65836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17320"/>
                <a:gridCol w="1417320"/>
                <a:gridCol w="1371600"/>
              </a:tblGrid>
              <a:tr h="34861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38DFF2"/>
                          </a:solidFill>
                          <a:latin typeface="Calibri"/>
                        </a:rPr>
                        <a:t>vulnerability</a:t>
                      </a:r>
                    </a:p>
                  </a:txBody>
                  <a:tcPr anchor="ctr" marL="82296" marR="64008" marT="27432" marB="27432">
                    <a:solidFill>
                      <a:srgbClr val="1C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38DFF2"/>
                          </a:solidFill>
                          <a:latin typeface="Calibri"/>
                        </a:rPr>
                        <a:t>sast (semgrep+codeql)</a:t>
                      </a:r>
                    </a:p>
                  </a:txBody>
                  <a:tcPr anchor="ctr" marL="82296" marR="64008" marT="27432" marB="27432">
                    <a:solidFill>
                      <a:srgbClr val="1C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38DFF2"/>
                          </a:solidFill>
                          <a:latin typeface="Calibri"/>
                        </a:rPr>
                        <a:t>dast (zap)</a:t>
                      </a:r>
                    </a:p>
                  </a:txBody>
                  <a:tcPr anchor="ctr" marL="82296" marR="64008" marT="27432" marB="27432">
                    <a:solidFill>
                      <a:srgbClr val="1C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38DFF2"/>
                          </a:solidFill>
                          <a:latin typeface="Calibri"/>
                        </a:rPr>
                        <a:t>sca</a:t>
                      </a:r>
                    </a:p>
                  </a:txBody>
                  <a:tcPr anchor="ctr" marL="82296" marR="64008" marT="27432" marB="27432">
                    <a:solidFill>
                      <a:srgbClr val="1C2A4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xss — dangerous html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E0A0"/>
                          </a:solidFill>
                          <a:latin typeface="Calibri"/>
                        </a:rPr>
                        <a:t>detected (pattern)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C24D"/>
                          </a:solidFill>
                          <a:latin typeface="Calibri"/>
                        </a:rPr>
                        <a:t>partial (reflected)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9DABC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sqli — search concat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E0A0"/>
                          </a:solidFill>
                          <a:latin typeface="Calibri"/>
                        </a:rPr>
                        <a:t>detected (taint)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E0A0"/>
                          </a:solidFill>
                          <a:latin typeface="Calibri"/>
                        </a:rPr>
                        <a:t>confirmed (exploit)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9DABC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idor — no authz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C24D"/>
                          </a:solidFill>
                          <a:latin typeface="Calibri"/>
                        </a:rPr>
                        <a:t>heuristic only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E0A0"/>
                          </a:solidFill>
                          <a:latin typeface="Calibri"/>
                        </a:rPr>
                        <a:t>confirmed (access)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9DABC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csp / xss filter off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E0A0"/>
                          </a:solidFill>
                          <a:latin typeface="Calibri"/>
                        </a:rPr>
                        <a:t>detected (config)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E0A0"/>
                          </a:solidFill>
                          <a:latin typeface="Calibri"/>
                        </a:rPr>
                        <a:t>detected (headers)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9DABC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outdated deps / cves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9DABC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9DABC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E0A0"/>
                          </a:solidFill>
                          <a:latin typeface="Calibri"/>
                        </a:rPr>
                        <a:t>detected (manifest)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runtime header issues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6B6B"/>
                          </a:solidFill>
                          <a:latin typeface="Calibri"/>
                        </a:rPr>
                        <a:t>not visible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E0A0"/>
                          </a:solidFill>
                          <a:latin typeface="Calibri"/>
                        </a:rPr>
                        <a:t>detected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9DABC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E8EFFA"/>
                          </a:solidFill>
                          <a:latin typeface="Calibri"/>
                        </a:rPr>
                        <a:t>business logic flaws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6B6B"/>
                          </a:solidFill>
                          <a:latin typeface="Calibri"/>
                        </a:rPr>
                        <a:t>weak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6B6B"/>
                          </a:solidFill>
                          <a:latin typeface="Calibri"/>
                        </a:rPr>
                        <a:t>weak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6B6B"/>
                          </a:solidFill>
                          <a:latin typeface="Calibri"/>
                        </a:rPr>
                        <a:t>weak</a:t>
                      </a:r>
                    </a:p>
                  </a:txBody>
                  <a:tcPr anchor="ctr" marL="82296" marR="64008" marT="27432" marB="27432"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26679" y="1600200"/>
            <a:ext cx="3977639" cy="310896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38DFF2"/>
                </a:solidFill>
                <a:latin typeface="Calibri"/>
              </a:rPr>
              <a:t>COVERAGE &amp; FALSE POSITIVES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103120"/>
            <a:ext cx="3611880" cy="56692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3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2103120"/>
            <a:ext cx="3337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1" i="0">
                <a:solidFill>
                  <a:srgbClr val="38DFF2"/>
                </a:solidFill>
                <a:latin typeface="Calibri"/>
              </a:rPr>
              <a:t>sast only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00" b="0" i="0">
                <a:solidFill>
                  <a:srgbClr val="9DABC4"/>
                </a:solidFill>
                <a:latin typeface="Consolas"/>
              </a:rPr>
              <a:t>72% coverage · fp ≈ 15–25%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761487"/>
            <a:ext cx="3611880" cy="56692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B4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2761487"/>
            <a:ext cx="3337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1" i="0">
                <a:solidFill>
                  <a:srgbClr val="B49CFF"/>
                </a:solidFill>
                <a:latin typeface="Calibri"/>
              </a:rPr>
              <a:t>dast only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00" b="0" i="0">
                <a:solidFill>
                  <a:srgbClr val="9DABC4"/>
                </a:solidFill>
                <a:latin typeface="Consolas"/>
              </a:rPr>
              <a:t>48% coverage · fp ≈ low (verified)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3419855"/>
            <a:ext cx="3611880" cy="56692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4A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3419855"/>
            <a:ext cx="3337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1" i="0">
                <a:solidFill>
                  <a:srgbClr val="4AE0A0"/>
                </a:solidFill>
                <a:latin typeface="Calibri"/>
              </a:rPr>
              <a:t>sca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00" b="0" i="0">
                <a:solidFill>
                  <a:srgbClr val="9DABC4"/>
                </a:solidFill>
                <a:latin typeface="Consolas"/>
              </a:rPr>
              <a:t>deps covered · 14 advisories found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4078223"/>
            <a:ext cx="3611880" cy="566928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FFC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4078223"/>
            <a:ext cx="3337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1" i="0">
                <a:solidFill>
                  <a:srgbClr val="FFC24D"/>
                </a:solidFill>
                <a:latin typeface="Calibri"/>
              </a:rPr>
              <a:t>combined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00" b="0" i="0">
                <a:solidFill>
                  <a:srgbClr val="9DABC4"/>
                </a:solidFill>
                <a:latin typeface="Consolas"/>
              </a:rPr>
              <a:t>92% coverage · fp → 0 via triage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83480"/>
            <a:ext cx="11201400" cy="141732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5240">
            <a:solidFill>
              <a:srgbClr val="38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02352"/>
            <a:ext cx="10789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38DFF2"/>
                </a:solidFill>
                <a:latin typeface="Calibri"/>
              </a:rPr>
              <a:t>key insight — the layers catch what the others miss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E8EFFA"/>
                </a:solidFill>
                <a:latin typeface="Calibri"/>
              </a:rPr>
              <a:t>sast finds code-level bugs pre-deploy (fast, all code paths) · dast confirms real exploitability at runtime (low fp, catches config) · sca covers the 3rd-party supply chain · regression tests pin findings so fixes stay fixed.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FFC24D"/>
                </a:solidFill>
                <a:latin typeface="Calibri"/>
              </a:rPr>
              <a:t>no single tool exceeded 72% coverage; together 92%+ — the residual gap (business logic) still needs human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841248"/>
          </a:xfrm>
          <a:prstGeom prst="rect">
            <a:avLst/>
          </a:prstGeom>
          <a:solidFill>
            <a:srgbClr val="38D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38DFF2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8813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E8EFFA"/>
                </a:solidFill>
                <a:latin typeface="Calibri"/>
              </a:rPr>
              <a:t>Conclusions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9DABC4"/>
                </a:solidFill>
                <a:latin typeface="Calibri"/>
              </a:rPr>
              <a:t>07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9DABC4"/>
                </a:solidFill>
                <a:latin typeface="Calibri"/>
              </a:rPr>
              <a:t>devsecops pipeline for web application security  ·  intentionally vulnerable demo app — lab use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577840" cy="420624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38DFF2"/>
                </a:solidFill>
                <a:latin typeface="Calibri"/>
              </a:rPr>
              <a:t>CONCLUSIONS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84831"/>
            <a:ext cx="5212080" cy="859536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39"/>
            <a:ext cx="49560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 i="0">
                <a:solidFill>
                  <a:srgbClr val="FF6B6B"/>
                </a:solidFill>
                <a:latin typeface="Calibri"/>
              </a:rPr>
              <a:t>▸ all 5 seeded vulnerability classes verified live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E8EFFA"/>
                </a:solidFill>
                <a:latin typeface="Calibri"/>
              </a:rPr>
              <a:t>xss 6/6, sqli 7/8 payloads exploited; idor confirmed; 14 advisory hits in deps — the app is genuinely vulnerable, exactly as designed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35808"/>
            <a:ext cx="5212080" cy="859536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4A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99815"/>
            <a:ext cx="49560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 i="0">
                <a:solidFill>
                  <a:srgbClr val="4AE0A0"/>
                </a:solidFill>
                <a:latin typeface="Calibri"/>
              </a:rPr>
              <a:t>▸ layered pipeline beats any single scanner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E8EFFA"/>
                </a:solidFill>
                <a:latin typeface="Calibri"/>
              </a:rPr>
              <a:t>sast+dast+sca reached 92% coverage vs 72% best single tool; regression suites add a fix-persistence layer no scanner provides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86783"/>
            <a:ext cx="5212080" cy="859536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B4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50791"/>
            <a:ext cx="49560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 i="0">
                <a:solidFill>
                  <a:srgbClr val="B49CFF"/>
                </a:solidFill>
                <a:latin typeface="Calibri"/>
              </a:rPr>
              <a:t>▸ build gates shift security left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E8EFFA"/>
                </a:solidFill>
                <a:latin typeface="Calibri"/>
              </a:rPr>
              <a:t>every push is scanned before merge; nightly zap full scan adds deep coverage without slowing the pr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37759"/>
            <a:ext cx="5212080" cy="859536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FFC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01768"/>
            <a:ext cx="49560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 i="0">
                <a:solidFill>
                  <a:srgbClr val="FFC24D"/>
                </a:solidFill>
                <a:latin typeface="Calibri"/>
              </a:rPr>
              <a:t>▸ secure rewrites are specified, not yet applied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0" i="0">
                <a:solidFill>
                  <a:srgbClr val="E8EFFA"/>
                </a:solidFill>
                <a:latin typeface="Calibri"/>
              </a:rPr>
              <a:t>remediation (prepared statements, sanitization, authz, csp, upgrades) is documented as the defended target state — the next iteration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600200"/>
            <a:ext cx="5349240" cy="4206240"/>
          </a:xfrm>
          <a:prstGeom prst="roundRect">
            <a:avLst>
              <a:gd name="adj" fmla="val 7000"/>
            </a:avLst>
          </a:prstGeom>
          <a:solidFill>
            <a:srgbClr val="151F38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7373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4AE0A0"/>
                </a:solidFill>
                <a:latin typeface="Calibri"/>
              </a:rPr>
              <a:t>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084831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38DFF2"/>
                </a:solidFill>
                <a:latin typeface="Consolas"/>
              </a:rPr>
              <a:t>[1] </a:t>
            </a:r>
            <a:r>
              <a:rPr sz="1000" b="1" i="0">
                <a:solidFill>
                  <a:srgbClr val="E8EFFA"/>
                </a:solidFill>
                <a:latin typeface="Calibri"/>
              </a:rPr>
              <a:t>owasp top 10 — 2021  </a:t>
            </a:r>
            <a:r>
              <a:rPr sz="900" b="0" i="0">
                <a:solidFill>
                  <a:srgbClr val="9DABC4"/>
                </a:solidFill>
                <a:latin typeface="Calibri"/>
              </a:rPr>
              <a:t>— owasp foundation — owasp.org/Top10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459736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38DFF2"/>
                </a:solidFill>
                <a:latin typeface="Consolas"/>
              </a:rPr>
              <a:t>[2] </a:t>
            </a:r>
            <a:r>
              <a:rPr sz="1000" b="1" i="0">
                <a:solidFill>
                  <a:srgbClr val="E8EFFA"/>
                </a:solidFill>
                <a:latin typeface="Calibri"/>
              </a:rPr>
              <a:t>owasp asvs 4.0.3  </a:t>
            </a:r>
            <a:r>
              <a:rPr sz="900" b="0" i="0">
                <a:solidFill>
                  <a:srgbClr val="9DABC4"/>
                </a:solidFill>
                <a:latin typeface="Calibri"/>
              </a:rPr>
              <a:t>— application security verification standard — owasp.org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34640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38DFF2"/>
                </a:solidFill>
                <a:latin typeface="Consolas"/>
              </a:rPr>
              <a:t>[3] </a:t>
            </a:r>
            <a:r>
              <a:rPr sz="1000" b="1" i="0">
                <a:solidFill>
                  <a:srgbClr val="E8EFFA"/>
                </a:solidFill>
                <a:latin typeface="Calibri"/>
              </a:rPr>
              <a:t>owasp zap  </a:t>
            </a:r>
            <a:r>
              <a:rPr sz="900" b="0" i="0">
                <a:solidFill>
                  <a:srgbClr val="9DABC4"/>
                </a:solidFill>
                <a:latin typeface="Calibri"/>
              </a:rPr>
              <a:t>— zaproxy.org — baseline &amp; full-scan github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09544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38DFF2"/>
                </a:solidFill>
                <a:latin typeface="Consolas"/>
              </a:rPr>
              <a:t>[4] </a:t>
            </a:r>
            <a:r>
              <a:rPr sz="1000" b="1" i="0">
                <a:solidFill>
                  <a:srgbClr val="E8EFFA"/>
                </a:solidFill>
                <a:latin typeface="Calibri"/>
              </a:rPr>
              <a:t>semgrep  </a:t>
            </a:r>
            <a:r>
              <a:rPr sz="900" b="0" i="0">
                <a:solidFill>
                  <a:srgbClr val="9DABC4"/>
                </a:solidFill>
                <a:latin typeface="Calibri"/>
              </a:rPr>
              <a:t>— semgrep.dev — community + custom rules, sarif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584448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38DFF2"/>
                </a:solidFill>
                <a:latin typeface="Consolas"/>
              </a:rPr>
              <a:t>[5] </a:t>
            </a:r>
            <a:r>
              <a:rPr sz="1000" b="1" i="0">
                <a:solidFill>
                  <a:srgbClr val="E8EFFA"/>
                </a:solidFill>
                <a:latin typeface="Calibri"/>
              </a:rPr>
              <a:t>github codeql  </a:t>
            </a:r>
            <a:r>
              <a:rPr sz="900" b="0" i="0">
                <a:solidFill>
                  <a:srgbClr val="9DABC4"/>
                </a:solidFill>
                <a:latin typeface="Calibri"/>
              </a:rPr>
              <a:t>— codeql.github.com — security-extended query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59352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38DFF2"/>
                </a:solidFill>
                <a:latin typeface="Consolas"/>
              </a:rPr>
              <a:t>[6] </a:t>
            </a:r>
            <a:r>
              <a:rPr sz="1000" b="1" i="0">
                <a:solidFill>
                  <a:srgbClr val="E8EFFA"/>
                </a:solidFill>
                <a:latin typeface="Calibri"/>
              </a:rPr>
              <a:t>owasp dependency-check  </a:t>
            </a:r>
            <a:r>
              <a:rPr sz="900" b="0" i="0">
                <a:solidFill>
                  <a:srgbClr val="9DABC4"/>
                </a:solidFill>
                <a:latin typeface="Calibri"/>
              </a:rPr>
              <a:t>— jeremylong.github.io/DependencyCheck — nvd-backed sca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334256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38DFF2"/>
                </a:solidFill>
                <a:latin typeface="Consolas"/>
              </a:rPr>
              <a:t>[7] </a:t>
            </a:r>
            <a:r>
              <a:rPr sz="1000" b="1" i="0">
                <a:solidFill>
                  <a:srgbClr val="E8EFFA"/>
                </a:solidFill>
                <a:latin typeface="Calibri"/>
              </a:rPr>
              <a:t>npm audit  </a:t>
            </a:r>
            <a:r>
              <a:rPr sz="900" b="0" i="0">
                <a:solidFill>
                  <a:srgbClr val="9DABC4"/>
                </a:solidFill>
                <a:latin typeface="Calibri"/>
              </a:rPr>
              <a:t>— docs.npmjs.com/cli/audit — github advisory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709160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38DFF2"/>
                </a:solidFill>
                <a:latin typeface="Consolas"/>
              </a:rPr>
              <a:t>[8] </a:t>
            </a:r>
            <a:r>
              <a:rPr sz="1000" b="1" i="0">
                <a:solidFill>
                  <a:srgbClr val="E8EFFA"/>
                </a:solidFill>
                <a:latin typeface="Calibri"/>
              </a:rPr>
              <a:t>nist nvd  </a:t>
            </a:r>
            <a:r>
              <a:rPr sz="900" b="0" i="0">
                <a:solidFill>
                  <a:srgbClr val="9DABC4"/>
                </a:solidFill>
                <a:latin typeface="Calibri"/>
              </a:rPr>
              <a:t>— nvd.nist.gov — cve-2021-23337, cve-2022-24999, cve-2021-3749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084064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38DFF2"/>
                </a:solidFill>
                <a:latin typeface="Consolas"/>
              </a:rPr>
              <a:t>[9] </a:t>
            </a:r>
            <a:r>
              <a:rPr sz="1000" b="1" i="0">
                <a:solidFill>
                  <a:srgbClr val="E8EFFA"/>
                </a:solidFill>
                <a:latin typeface="Calibri"/>
              </a:rPr>
              <a:t>cwe / mitre  </a:t>
            </a:r>
            <a:r>
              <a:rPr sz="900" b="0" i="0">
                <a:solidFill>
                  <a:srgbClr val="9DABC4"/>
                </a:solidFill>
                <a:latin typeface="Calibri"/>
              </a:rPr>
              <a:t>— cwe.mitre.org — cwe-79, cwe-89, cwe-639, cwe-693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458968"/>
            <a:ext cx="5029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38DFF2"/>
                </a:solidFill>
                <a:latin typeface="Consolas"/>
              </a:rPr>
              <a:t>[10] </a:t>
            </a:r>
            <a:r>
              <a:rPr sz="1000" b="1" i="0">
                <a:solidFill>
                  <a:srgbClr val="E8EFFA"/>
                </a:solidFill>
                <a:latin typeface="Calibri"/>
              </a:rPr>
              <a:t>owasp wstg v4.2  </a:t>
            </a:r>
            <a:r>
              <a:rPr sz="900" b="0" i="0">
                <a:solidFill>
                  <a:srgbClr val="9DABC4"/>
                </a:solidFill>
                <a:latin typeface="Calibri"/>
              </a:rPr>
              <a:t>— owasp.org — web security testing guide methodology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943600"/>
            <a:ext cx="11201400" cy="457200"/>
          </a:xfrm>
          <a:prstGeom prst="roundRect">
            <a:avLst>
              <a:gd name="adj" fmla="val 7000"/>
            </a:avLst>
          </a:prstGeom>
          <a:solidFill>
            <a:srgbClr val="1C2A4A"/>
          </a:solidFill>
          <a:ln w="12700">
            <a:solidFill>
              <a:srgbClr val="2E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10881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38DFF2"/>
                </a:solidFill>
                <a:latin typeface="Consolas"/>
              </a:rPr>
              <a:t>repo: </a:t>
            </a:r>
            <a:r>
              <a:rPr sz="1000" b="1" i="0">
                <a:solidFill>
                  <a:srgbClr val="E8EFFA"/>
                </a:solidFill>
                <a:latin typeface="Consolas"/>
              </a:rPr>
              <a:t>github.com/raptor7197/web-application-sec-project   ·   </a:t>
            </a:r>
            <a:r>
              <a:rPr sz="1000" b="1" i="0">
                <a:solidFill>
                  <a:srgbClr val="38DFF2"/>
                </a:solidFill>
                <a:latin typeface="Consolas"/>
              </a:rPr>
              <a:t>full write-up: </a:t>
            </a:r>
            <a:r>
              <a:rPr sz="1000" b="1" i="0">
                <a:solidFill>
                  <a:srgbClr val="E8EFFA"/>
                </a:solidFill>
                <a:latin typeface="Consolas"/>
              </a:rPr>
              <a:t>project-report.md + docs/deepdive.md + docs/security-comparison.md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